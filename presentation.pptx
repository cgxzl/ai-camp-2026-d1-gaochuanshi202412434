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先说使用者和问题，不讲课程日名称代替问题。指出真实输入和产品边界。目标 30 秒。</a:t>
            </a: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说明基线为何简单、候选只复杂哪一步，以及比较条件如何保持相同。目标 45 秒。</a:t>
            </a:r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只选择一条最能回答问题的证据。说出命令、指标含义和一个真实样本。目标 60 秒。</a:t>
            </a: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用失败收尾，明确不能声称什么和下一项最小检查。不要说泛泛的“数据不够”。目标 45 秒。</a:t>
            </a:r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00" name="HeroNumber"/>
          <p:cNvSpPr/>
          <p:nvPr/>
        </p:nvSpPr>
        <p:spPr>
          <a:xfrm>
            <a:off x="720000" y="1080000"/>
            <a:ext cx="1800000" cy="1800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4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1" name="CoverTitle"/>
          <p:cNvSpPr txBox="1"/>
          <p:nvPr/>
        </p:nvSpPr>
        <p:spPr>
          <a:xfrm>
            <a:off x="2952000" y="1152000"/>
            <a:ext cx="8460000" cy="792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问题与使用者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2" name="CoverBody"/>
          <p:cNvSpPr txBox="1"/>
          <p:nvPr/>
        </p:nvSpPr>
        <p:spPr>
          <a:xfrm>
            <a:off x="2952000" y="2160000"/>
            <a:ext cx="7920000" cy="1080000"/>
          </a:xfrm>
          <a:prstGeom prst="rect">
            <a:avLst/>
          </a:prstGeom>
        </p:spPr>
        <p:txBody>
          <a:bodyPr lIns="43200" tIns="43200" rIns="43200" bIns="43200" anchor="ctr">
            <a:normAutofit lnSpcReduction="10000"/>
          </a:bodyPr>
          <a:lstStyle/>
          <a:p>
            <a:pPr algn="l"/>
            <a:r>
              <a:rPr lang="zh-CN" altLang="en-US" sz="2200" b="0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博物馆教育团队要用</a:t>
            </a:r>
            <a:r>
              <a:rPr lang="en-US" altLang="zh-CN" sz="2200" b="0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Titanic</a:t>
            </a:r>
            <a:r>
              <a:rPr lang="zh-CN" altLang="en-US" sz="2200" b="0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真实乘客记录，比较"永远猜未幸存"的基线与随机森林模型，并诚实解释模型在留出乘客上的错误。</a:t>
            </a:r>
            <a:endParaRPr lang="zh-CN" altLang="en-US" sz="2200" b="0">
              <a:solidFill>
                <a:srgbClr val="D6F5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3" name="CoverMeta"/>
          <p:cNvSpPr txBox="1"/>
          <p:nvPr/>
        </p:nvSpPr>
        <p:spPr>
          <a:xfrm>
            <a:off x="2952000" y="4572000"/>
            <a:ext cx="7200000" cy="36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600" b="1">
                <a:solidFill>
                  <a:srgbClr val="8DDDD0"/>
                </a:solidFill>
                <a:latin typeface="微软雅黑" panose="020B0503020204020204" charset="-122"/>
                <a:ea typeface="微软雅黑" panose="020B0503020204020204" charset="-122"/>
              </a:rPr>
              <a:t>每日 3 分钟答辩 · 第 1 页约 30 秒</a:t>
            </a:r>
            <a:endParaRPr lang="zh-CN" sz="1600" b="1">
              <a:solidFill>
                <a:srgbClr val="8DDD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04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400" b="1">
                <a:solidFill>
                  <a:srgbClr val="028090"/>
                </a:solidFill>
                <a:latin typeface="微软雅黑" panose="020B0503020204020204" charset="-122"/>
                <a:ea typeface="微软雅黑" panose="020B0503020204020204" charset="-122"/>
              </a:rPr>
              <a:t>02 · 约 45 秒</a:t>
            </a:r>
            <a:endParaRPr lang="zh-CN" sz="1400" b="1">
              <a:solidFill>
                <a:srgbClr val="0280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5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183B45"/>
                </a:solidFill>
                <a:latin typeface="微软雅黑" panose="020B0503020204020204" charset="-122"/>
                <a:ea typeface="微软雅黑" panose="020B0503020204020204" charset="-122"/>
              </a:rPr>
              <a:t>方法与简单基线</a:t>
            </a:r>
            <a:endParaRPr lang="zh-CN" sz="3800" b="1">
              <a:solidFill>
                <a:srgbClr val="183B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6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7" name="Input"/>
          <p:cNvSpPr/>
          <p:nvPr/>
        </p:nvSpPr>
        <p:spPr>
          <a:xfrm>
            <a:off x="540000" y="2160000"/>
            <a:ext cx="2988000" cy="1800000"/>
          </a:xfrm>
          <a:prstGeom prst="roundRect">
            <a:avLst/>
          </a:prstGeom>
          <a:solidFill>
            <a:srgbClr val="D7F4EE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en-US" altLang="zh-CN" sz="22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Kaggle train.csv</a:t>
            </a:r>
            <a:r>
              <a:rPr lang="zh-CN" altLang="en-US" sz="22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2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python train.py --check-data </a:t>
            </a:r>
            <a:r>
              <a:rPr lang="zh-CN" altLang="en-US" sz="22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lang="zh-CN" altLang="en-US" sz="2200" b="1">
              <a:solidFill>
                <a:srgbClr val="123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8" name="Baseline"/>
          <p:cNvSpPr/>
          <p:nvPr/>
        </p:nvSpPr>
        <p:spPr>
          <a:xfrm>
            <a:off x="4572000" y="2160000"/>
            <a:ext cx="2988000" cy="1800000"/>
          </a:xfrm>
          <a:prstGeom prst="roundRect">
            <a:avLst/>
          </a:prstGeom>
          <a:solidFill>
            <a:srgbClr val="C9E8F2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en-US" altLang="zh-CN" sz="2200" b="1">
                <a:solidFill>
                  <a:srgbClr val="173F5F"/>
                </a:solidFill>
                <a:latin typeface="微软雅黑" panose="020B0503020204020204" charset="-122"/>
                <a:ea typeface="微软雅黑" panose="020B0503020204020204" charset="-122"/>
              </a:rPr>
              <a:t>DummyClassifier </a:t>
            </a:r>
            <a:r>
              <a:rPr lang="zh-CN" altLang="en-US" sz="2200" b="1">
                <a:solidFill>
                  <a:srgbClr val="173F5F"/>
                </a:solidFill>
                <a:latin typeface="微软雅黑" panose="020B0503020204020204" charset="-122"/>
                <a:ea typeface="微软雅黑" panose="020B0503020204020204" charset="-122"/>
              </a:rPr>
              <a:t>永远猜"未幸存"，准确率 61.4%</a:t>
            </a:r>
            <a:endParaRPr lang="zh-CN" altLang="en-US" sz="2200" b="1">
              <a:solidFill>
                <a:srgbClr val="173F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9" name="Candidate"/>
          <p:cNvSpPr/>
          <p:nvPr/>
        </p:nvSpPr>
        <p:spPr>
          <a:xfrm>
            <a:off x="8604000" y="2160000"/>
            <a:ext cx="2988000" cy="1800000"/>
          </a:xfrm>
          <a:prstGeom prst="roundRect">
            <a:avLst/>
          </a:prstGeom>
          <a:solidFill>
            <a:srgbClr val="FBE4C8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en-US" sz="2200" b="1">
                <a:solidFill>
                  <a:srgbClr val="6B3E16"/>
                </a:solidFill>
                <a:latin typeface="微软雅黑" panose="020B0503020204020204" charset="-122"/>
                <a:ea typeface="微软雅黑" panose="020B0503020204020204" charset="-122"/>
              </a:rPr>
              <a:t>随机森林，只比基线复杂一步</a:t>
            </a:r>
            <a:endParaRPr lang="zh-CN" altLang="en-US" sz="2200" b="1">
              <a:solidFill>
                <a:srgbClr val="6B3E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0" name="MethodPrompt"/>
          <p:cNvSpPr txBox="1"/>
          <p:nvPr/>
        </p:nvSpPr>
        <p:spPr>
          <a:xfrm>
            <a:off x="1080000" y="4680000"/>
            <a:ext cx="10008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r>
              <a:rPr lang="zh-CN" altLang="en-US" sz="2000" b="0">
                <a:solidFill>
                  <a:srgbClr val="39545B"/>
                </a:solidFill>
                <a:latin typeface="微软雅黑" panose="020B0503020204020204" charset="-122"/>
                <a:ea typeface="微软雅黑" panose="020B0503020204020204" charset="-122"/>
              </a:rPr>
              <a:t>保持同一份数据、</a:t>
            </a:r>
            <a:r>
              <a:rPr lang="en-US" altLang="zh-CN" sz="2000" b="0">
                <a:solidFill>
                  <a:srgbClr val="39545B"/>
                </a:solidFill>
                <a:latin typeface="微软雅黑" panose="020B0503020204020204" charset="-122"/>
                <a:ea typeface="微软雅黑" panose="020B0503020204020204" charset="-122"/>
              </a:rPr>
              <a:t>test_size=0.25、random_state=42、</a:t>
            </a:r>
            <a:r>
              <a:rPr lang="zh-CN" altLang="en-US" sz="2000" b="0">
                <a:solidFill>
                  <a:srgbClr val="39545B"/>
                </a:solidFill>
                <a:latin typeface="微软雅黑" panose="020B0503020204020204" charset="-122"/>
                <a:ea typeface="微软雅黑" panose="020B0503020204020204" charset="-122"/>
              </a:rPr>
              <a:t>同一套指标</a:t>
            </a:r>
            <a:endParaRPr lang="zh-CN" altLang="en-US" sz="2000" b="0">
              <a:solidFill>
                <a:srgbClr val="39545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11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400" b="1">
                <a:solidFill>
                  <a:srgbClr val="028090"/>
                </a:solidFill>
                <a:latin typeface="微软雅黑" panose="020B0503020204020204" charset="-122"/>
                <a:ea typeface="微软雅黑" panose="020B0503020204020204" charset="-122"/>
              </a:rPr>
              <a:t>03 · 约 60 秒</a:t>
            </a:r>
            <a:endParaRPr lang="zh-CN" sz="1400" b="1">
              <a:solidFill>
                <a:srgbClr val="0280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2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183B45"/>
                </a:solidFill>
                <a:latin typeface="微软雅黑" panose="020B0503020204020204" charset="-122"/>
                <a:ea typeface="微软雅黑" panose="020B0503020204020204" charset="-122"/>
              </a:rPr>
              <a:t>一条最重要的证据</a:t>
            </a:r>
            <a:endParaRPr lang="zh-CN" sz="3800" b="1">
              <a:solidFill>
                <a:srgbClr val="183B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3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4" name="Metric"/>
          <p:cNvSpPr/>
          <p:nvPr/>
        </p:nvSpPr>
        <p:spPr>
          <a:xfrm>
            <a:off x="540000" y="1800000"/>
            <a:ext cx="5292000" cy="2268000"/>
          </a:xfrm>
          <a:prstGeom prst="roundRect">
            <a:avLst/>
          </a:prstGeom>
          <a:solidFill>
            <a:srgbClr val="183B45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候选 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recall_survived = 0.628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，基线是 0——随机森林能找回真实幸存者</a:t>
            </a:r>
            <a:endParaRPr lang="zh-CN" altLang="en-US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5" name="Case"/>
          <p:cNvSpPr/>
          <p:nvPr/>
        </p:nvSpPr>
        <p:spPr>
          <a:xfrm>
            <a:off x="6156000" y="1800000"/>
            <a:ext cx="5436000" cy="22680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en-US" altLang="zh-CN" sz="2200" b="1">
                <a:solidFill>
                  <a:srgbClr val="083B35"/>
                </a:solidFill>
                <a:latin typeface="微软雅黑" panose="020B0503020204020204" charset="-122"/>
                <a:ea typeface="微软雅黑" panose="020B0503020204020204" charset="-122"/>
              </a:rPr>
              <a:t>PassengerId 432（Thorneycroft</a:t>
            </a:r>
            <a:r>
              <a:rPr lang="zh-CN" altLang="en-US" sz="2200" b="1">
                <a:solidFill>
                  <a:srgbClr val="083B35"/>
                </a:solidFill>
                <a:latin typeface="微软雅黑" panose="020B0503020204020204" charset="-122"/>
                <a:ea typeface="微软雅黑" panose="020B0503020204020204" charset="-122"/>
              </a:rPr>
              <a:t>女士），真实幸存、预测未幸存，</a:t>
            </a:r>
            <a:r>
              <a:rPr lang="en-US" altLang="zh-CN" sz="2200" b="1">
                <a:solidFill>
                  <a:srgbClr val="083B35"/>
                </a:solidFill>
                <a:latin typeface="微软雅黑" panose="020B0503020204020204" charset="-122"/>
                <a:ea typeface="微软雅黑" panose="020B0503020204020204" charset="-122"/>
              </a:rPr>
              <a:t>Age</a:t>
            </a:r>
            <a:r>
              <a:rPr lang="zh-CN" altLang="en-US" sz="2200" b="1">
                <a:solidFill>
                  <a:srgbClr val="083B35"/>
                </a:solidFill>
                <a:latin typeface="微软雅黑" panose="020B0503020204020204" charset="-122"/>
                <a:ea typeface="微软雅黑" panose="020B0503020204020204" charset="-122"/>
              </a:rPr>
              <a:t>缺失</a:t>
            </a:r>
            <a:endParaRPr lang="zh-CN" altLang="en-US" sz="2200" b="1">
              <a:solidFill>
                <a:srgbClr val="083B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6" name="EvidencePrompt"/>
          <p:cNvSpPr txBox="1"/>
          <p:nvPr/>
        </p:nvSpPr>
        <p:spPr>
          <a:xfrm>
            <a:off x="792000" y="4680000"/>
            <a:ext cx="10584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r>
              <a:rPr lang="zh-CN" sz="2000" b="0">
                <a:solidFill>
                  <a:srgbClr val="39545B"/>
                </a:solidFill>
                <a:latin typeface="微软雅黑" panose="020B0503020204020204" charset="-122"/>
                <a:ea typeface="微软雅黑" panose="020B0503020204020204" charset="-122"/>
              </a:rPr>
              <a:t>证据必须能由 README 中的命令重新产生；图片与数字要能看清。</a:t>
            </a:r>
            <a:endParaRPr lang="zh-CN" sz="2000" b="0">
              <a:solidFill>
                <a:srgbClr val="39545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17" name="EndTitle"/>
          <p:cNvSpPr txBox="1"/>
          <p:nvPr/>
        </p:nvSpPr>
        <p:spPr>
          <a:xfrm>
            <a:off x="540000" y="504000"/>
            <a:ext cx="10800000" cy="72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失败、限制与下一问题</a:t>
            </a:r>
            <a:endParaRPr lang="zh-CN" sz="3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8" name="Failure"/>
          <p:cNvSpPr/>
          <p:nvPr/>
        </p:nvSpPr>
        <p:spPr>
          <a:xfrm>
            <a:off x="540000" y="1800000"/>
            <a:ext cx="3456000" cy="2088000"/>
          </a:xfrm>
          <a:prstGeom prst="roundRect">
            <a:avLst/>
          </a:prstGeom>
          <a:solidFill>
            <a:srgbClr val="FBE4C8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en-US" sz="2100" b="1">
                <a:solidFill>
                  <a:srgbClr val="6B3E16"/>
                </a:solidFill>
                <a:latin typeface="微软雅黑" panose="020B0503020204020204" charset="-122"/>
                <a:ea typeface="微软雅黑" panose="020B0503020204020204" charset="-122"/>
              </a:rPr>
              <a:t>假阴性——漏掉32个真实幸存者；</a:t>
            </a:r>
            <a:r>
              <a:rPr lang="en-US" altLang="zh-CN" sz="2100" b="1">
                <a:solidFill>
                  <a:srgbClr val="6B3E16"/>
                </a:solidFill>
                <a:latin typeface="微软雅黑" panose="020B0503020204020204" charset="-122"/>
                <a:ea typeface="微软雅黑" panose="020B0503020204020204" charset="-122"/>
              </a:rPr>
              <a:t>Age</a:t>
            </a:r>
            <a:r>
              <a:rPr lang="zh-CN" altLang="en-US" sz="2100" b="1">
                <a:solidFill>
                  <a:srgbClr val="6B3E16"/>
                </a:solidFill>
                <a:latin typeface="微软雅黑" panose="020B0503020204020204" charset="-122"/>
                <a:ea typeface="微软雅黑" panose="020B0503020204020204" charset="-122"/>
              </a:rPr>
              <a:t>缺失的人更容易被猜错</a:t>
            </a:r>
            <a:endParaRPr lang="zh-CN" altLang="en-US" sz="2100" b="1">
              <a:solidFill>
                <a:srgbClr val="6B3E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9" name="Limit"/>
          <p:cNvSpPr/>
          <p:nvPr/>
        </p:nvSpPr>
        <p:spPr>
          <a:xfrm>
            <a:off x="4374000" y="1800000"/>
            <a:ext cx="3456000" cy="2088000"/>
          </a:xfrm>
          <a:prstGeom prst="roundRect">
            <a:avLst/>
          </a:prstGeom>
          <a:solidFill>
            <a:srgbClr val="D7F4EE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en-US" sz="21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单样本不证明因果；</a:t>
            </a:r>
            <a:r>
              <a:rPr lang="en-US" altLang="zh-CN" sz="21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Age</a:t>
            </a:r>
            <a:r>
              <a:rPr lang="zh-CN" altLang="en-US" sz="21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缺失与猜错只是相关，不是"导致"</a:t>
            </a:r>
            <a:endParaRPr lang="zh-CN" altLang="en-US" sz="2100" b="1">
              <a:solidFill>
                <a:srgbClr val="123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0" name="Next"/>
          <p:cNvSpPr/>
          <p:nvPr/>
        </p:nvSpPr>
        <p:spPr>
          <a:xfrm>
            <a:off x="8208000" y="1800000"/>
            <a:ext cx="3456000" cy="2088000"/>
          </a:xfrm>
          <a:prstGeom prst="roundRect">
            <a:avLst/>
          </a:prstGeom>
          <a:solidFill>
            <a:srgbClr val="C9E8F2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en-US" sz="2100" b="1">
                <a:solidFill>
                  <a:srgbClr val="173F5F"/>
                </a:solidFill>
                <a:latin typeface="微软雅黑" panose="020B0503020204020204" charset="-122"/>
                <a:ea typeface="微软雅黑" panose="020B0503020204020204" charset="-122"/>
              </a:rPr>
              <a:t>比较</a:t>
            </a:r>
            <a:r>
              <a:rPr lang="en-US" altLang="zh-CN" sz="2100" b="1">
                <a:solidFill>
                  <a:srgbClr val="173F5F"/>
                </a:solidFill>
                <a:latin typeface="微软雅黑" panose="020B0503020204020204" charset="-122"/>
                <a:ea typeface="微软雅黑" panose="020B0503020204020204" charset="-122"/>
              </a:rPr>
              <a:t>Age</a:t>
            </a:r>
            <a:r>
              <a:rPr lang="zh-CN" altLang="en-US" sz="2100" b="1">
                <a:solidFill>
                  <a:srgbClr val="173F5F"/>
                </a:solidFill>
                <a:latin typeface="微软雅黑" panose="020B0503020204020204" charset="-122"/>
                <a:ea typeface="微软雅黑" panose="020B0503020204020204" charset="-122"/>
              </a:rPr>
              <a:t>缺失与不缺失乘客的准确率</a:t>
            </a:r>
            <a:endParaRPr lang="zh-CN" altLang="en-US" sz="2100" b="1">
              <a:solidFill>
                <a:srgbClr val="173F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1" name="EndMeta"/>
          <p:cNvSpPr txBox="1"/>
          <p:nvPr/>
        </p:nvSpPr>
        <p:spPr>
          <a:xfrm>
            <a:off x="720000" y="4680000"/>
            <a:ext cx="10764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r>
              <a:rPr lang="zh-CN" sz="1900" b="1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准备回答：代码追踪 · 指标 · 失败 · 智能体贡献 · 小变化预测</a:t>
            </a:r>
            <a:endParaRPr lang="zh-CN" sz="1900" b="1">
              <a:solidFill>
                <a:srgbClr val="D6F5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WPS 演示</Application>
  <PresentationFormat/>
  <Paragraphs>40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OfficeCLI</dc:creator>
  <cp:lastModifiedBy>高川石</cp:lastModifiedBy>
  <cp:revision>2</cp:revision>
  <dcterms:created xsi:type="dcterms:W3CDTF">2026-08-17T13:18:30Z</dcterms:created>
  <dcterms:modified xsi:type="dcterms:W3CDTF">2026-08-17T13:43:47Z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2026-08-11T15:35:06Z</vt:lpwstr>
  </property>
  <property fmtid="{D5CDD505-2E9C-101B-9397-08002B2CF9AE}" pid="4" name="KSOProductBuildVer">
    <vt:lpwstr>2052-12.1.0.28043</vt:lpwstr>
  </property>
  <property fmtid="{D5CDD505-2E9C-101B-9397-08002B2CF9AE}" pid="5" name="ICV">
    <vt:lpwstr>D8067A1D424547C8B1B8FB20E608BD23_12</vt:lpwstr>
  </property>
</Properties>
</file>